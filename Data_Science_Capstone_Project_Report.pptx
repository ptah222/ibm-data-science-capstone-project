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Landing Success Rate by Orbit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E8C5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2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ES-L1</c:v>
                </c:pt>
                <c:pt idx="1">
                  <c:v>GEO</c:v>
                </c:pt>
                <c:pt idx="2">
                  <c:v>HEO</c:v>
                </c:pt>
                <c:pt idx="3">
                  <c:v>SSO</c:v>
                </c:pt>
                <c:pt idx="4">
                  <c:v>VLEO</c:v>
                </c:pt>
                <c:pt idx="5">
                  <c:v>LEO</c:v>
                </c:pt>
                <c:pt idx="6">
                  <c:v>PO</c:v>
                </c:pt>
                <c:pt idx="7">
                  <c:v>MEO</c:v>
                </c:pt>
                <c:pt idx="8">
                  <c:v>ISS</c:v>
                </c:pt>
                <c:pt idx="9">
                  <c:v>GTO</c:v>
                </c:pt>
                <c:pt idx="10">
                  <c:v>SO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85.7</c:v>
                </c:pt>
                <c:pt idx="5">
                  <c:v>71.400000000000006</c:v>
                </c:pt>
                <c:pt idx="6">
                  <c:v>66.7</c:v>
                </c:pt>
                <c:pt idx="7">
                  <c:v>66.7</c:v>
                </c:pt>
                <c:pt idx="8">
                  <c:v>61.9</c:v>
                </c:pt>
                <c:pt idx="9">
                  <c:v>51.9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BA-492D-AC60-D4F18C7E92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16223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162238"/>
                    </a:solidFill>
                    <a:latin typeface="Arial"/>
                  </a:rPr>
                  <a:t>Success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Landing Success Rate by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ln w="38100" cap="flat">
              <a:solidFill>
                <a:srgbClr val="05080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5080F"/>
              </a:solidFill>
              <a:ln w="9525" cap="flat">
                <a:solidFill>
                  <a:srgbClr val="05080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33.299999999999997</c:v>
                </c:pt>
                <c:pt idx="4">
                  <c:v>33.299999999999997</c:v>
                </c:pt>
                <c:pt idx="5">
                  <c:v>62.5</c:v>
                </c:pt>
                <c:pt idx="6">
                  <c:v>83.3</c:v>
                </c:pt>
                <c:pt idx="7">
                  <c:v>61.1</c:v>
                </c:pt>
                <c:pt idx="8">
                  <c:v>90</c:v>
                </c:pt>
                <c:pt idx="9">
                  <c:v>84.2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D7-498F-ADB5-F82CE78877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16223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162238"/>
                    </a:solidFill>
                    <a:latin typeface="Arial"/>
                  </a:rPr>
                  <a:t>Success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00000"/>
                </a:solidFill>
                <a:latin typeface="Arial"/>
              </a:rPr>
              <a:t>Model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E8C547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622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Decision
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0.84642857142857131</c:v>
                </c:pt>
                <c:pt idx="1">
                  <c:v>0.84821428571428559</c:v>
                </c:pt>
                <c:pt idx="2">
                  <c:v>0.87678571428571428</c:v>
                </c:pt>
                <c:pt idx="3">
                  <c:v>0.84821428571428581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C-46F1-B99D-3094FDB2CA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43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1621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86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7804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2807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120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410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902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7352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849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792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5342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1281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729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32070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109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3475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7715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85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6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3D2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389120"/>
            <a:ext cx="5029200" cy="5029200"/>
          </a:xfrm>
          <a:prstGeom prst="ellipse">
            <a:avLst/>
          </a:prstGeom>
          <a:solidFill>
            <a:srgbClr val="0203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985852">
            <a:off x="7923348" y="537556"/>
            <a:ext cx="31894" cy="31894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463722">
            <a:off x="9259427" y="115799"/>
            <a:ext cx="33259" cy="33259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1287148">
            <a:off x="7544448" y="501045"/>
            <a:ext cx="61847" cy="6184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3509463">
            <a:off x="5525303" y="264262"/>
            <a:ext cx="44985" cy="4498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1904000">
            <a:off x="1433444" y="463923"/>
            <a:ext cx="20068" cy="2006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1604093">
            <a:off x="6595107" y="353411"/>
            <a:ext cx="48197" cy="48197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3743074">
            <a:off x="10210858" y="22612"/>
            <a:ext cx="21140" cy="2114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1614278">
            <a:off x="1029720" y="463962"/>
            <a:ext cx="47411" cy="47411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rot="1311037">
            <a:off x="9342785" y="468560"/>
            <a:ext cx="45872" cy="4587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rot="2046685">
            <a:off x="10804294" y="456496"/>
            <a:ext cx="55609" cy="5560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954556">
            <a:off x="9064229" y="165444"/>
            <a:ext cx="27659" cy="2765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767981">
            <a:off x="4611762" y="301664"/>
            <a:ext cx="58680" cy="5868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3100296">
            <a:off x="11021054" y="4923749"/>
            <a:ext cx="60763" cy="60763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284833">
            <a:off x="9160173" y="2449160"/>
            <a:ext cx="56060" cy="5606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rot="334926">
            <a:off x="10200758" y="5730140"/>
            <a:ext cx="44713" cy="44713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rot="2943907">
            <a:off x="9646912" y="6659856"/>
            <a:ext cx="40410" cy="4041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rot="4285111">
            <a:off x="10241702" y="687476"/>
            <a:ext cx="44986" cy="44986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rot="371870">
            <a:off x="8855071" y="5868164"/>
            <a:ext cx="53501" cy="5350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rot="1937519">
            <a:off x="11644694" y="4189089"/>
            <a:ext cx="44082" cy="4408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rot="355389">
            <a:off x="11109818" y="4053417"/>
            <a:ext cx="43966" cy="43966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1238815">
            <a:off x="9856926" y="4466314"/>
            <a:ext cx="43132" cy="4313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441130">
            <a:off x="9946164" y="4940947"/>
            <a:ext cx="29868" cy="2986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rot="1815667">
            <a:off x="12071836" y="6260483"/>
            <a:ext cx="56810" cy="56810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rot="3295759">
            <a:off x="9825863" y="2096088"/>
            <a:ext cx="63137" cy="6313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rot="3134741">
            <a:off x="8546413" y="2628929"/>
            <a:ext cx="47298" cy="47298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rot="385944">
            <a:off x="9747295" y="1022174"/>
            <a:ext cx="41608" cy="4160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rot="2582704">
            <a:off x="9069195" y="6186987"/>
            <a:ext cx="25887" cy="2588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1738352">
            <a:off x="11440529" y="4682537"/>
            <a:ext cx="54463" cy="54463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rot="746222">
            <a:off x="11819060" y="2625990"/>
            <a:ext cx="47890" cy="4789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rot="3779648">
            <a:off x="11582014" y="3594512"/>
            <a:ext cx="26631" cy="2663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rot="931963">
            <a:off x="11560278" y="4815270"/>
            <a:ext cx="55171" cy="5517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rot="3256500">
            <a:off x="11218896" y="4785431"/>
            <a:ext cx="33747" cy="3374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rot="2926593">
            <a:off x="10296083" y="1748161"/>
            <a:ext cx="23459" cy="2345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rot="1075574">
            <a:off x="9212973" y="3598627"/>
            <a:ext cx="53234" cy="53234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rot="3956778">
            <a:off x="11941891" y="1213997"/>
            <a:ext cx="48708" cy="4870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rot="383537">
            <a:off x="9206491" y="1219435"/>
            <a:ext cx="20181" cy="2018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rot="2529185">
            <a:off x="12081479" y="1604110"/>
            <a:ext cx="52461" cy="5246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rot="3207056">
            <a:off x="10607586" y="6199188"/>
            <a:ext cx="50863" cy="50863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rot="830481">
            <a:off x="8620554" y="2579834"/>
            <a:ext cx="20607" cy="20607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rot="1332796">
            <a:off x="9409787" y="6261218"/>
            <a:ext cx="56662" cy="56662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rot="1367333">
            <a:off x="11211071" y="6596503"/>
            <a:ext cx="44022" cy="4402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rot="307426">
            <a:off x="8845586" y="6400859"/>
            <a:ext cx="28547" cy="2854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rot="2166407">
            <a:off x="8880760" y="4425450"/>
            <a:ext cx="23927" cy="2392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rot="3117611">
            <a:off x="10371884" y="2977444"/>
            <a:ext cx="31995" cy="3199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 rot="3494370">
            <a:off x="10188902" y="6396008"/>
            <a:ext cx="47812" cy="4781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rot="1070019">
            <a:off x="10801713" y="3526308"/>
            <a:ext cx="49506" cy="49506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 rot="177889">
            <a:off x="12085115" y="2771510"/>
            <a:ext cx="18592" cy="1859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rot="2111315">
            <a:off x="9270041" y="3136782"/>
            <a:ext cx="36491" cy="3649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rot="2723630">
            <a:off x="11792186" y="4135291"/>
            <a:ext cx="45770" cy="45770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 rot="1548167">
            <a:off x="9282529" y="6550201"/>
            <a:ext cx="53344" cy="53344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 rot="838259">
            <a:off x="10084092" y="4052682"/>
            <a:ext cx="44114" cy="44114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 rot="3167241">
            <a:off x="12159494" y="6823898"/>
            <a:ext cx="62247" cy="6224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 rot="3268444">
            <a:off x="9646991" y="1169017"/>
            <a:ext cx="48619" cy="4861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 rot="35204">
            <a:off x="1721818" y="4716760"/>
            <a:ext cx="28771" cy="28771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 rot="2760852">
            <a:off x="44401" y="4879989"/>
            <a:ext cx="57029" cy="5702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 rot="1378722">
            <a:off x="2984210" y="4587311"/>
            <a:ext cx="53949" cy="53949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 rot="62148">
            <a:off x="5213171" y="4534404"/>
            <a:ext cx="39992" cy="3999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rot="1864463">
            <a:off x="143372" y="4536413"/>
            <a:ext cx="33925" cy="3392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 rot="559000">
            <a:off x="3549060" y="4950348"/>
            <a:ext cx="27423" cy="27423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 rot="1279093">
            <a:off x="6322640" y="6619209"/>
            <a:ext cx="35868" cy="3586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 rot="838074">
            <a:off x="931319" y="6777498"/>
            <a:ext cx="42465" cy="42465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 rot="1169278">
            <a:off x="5039105" y="6691548"/>
            <a:ext cx="18572" cy="18572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 rot="4046037">
            <a:off x="5758883" y="6803035"/>
            <a:ext cx="20207" cy="2020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 rot="41685">
            <a:off x="3116901" y="6520705"/>
            <a:ext cx="40740" cy="4074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 rot="3569556">
            <a:off x="8163005" y="6557169"/>
            <a:ext cx="31204" cy="31204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48640" y="685800"/>
            <a:ext cx="731520" cy="731520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875995"/>
            <a:ext cx="351130" cy="351130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146304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CAPSTONE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548640" y="22860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Falcon 9 First-Stage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Success</a:t>
            </a:r>
            <a:endParaRPr lang="en-US" sz="4200" dirty="0"/>
          </a:p>
        </p:txBody>
      </p:sp>
      <p:sp>
        <p:nvSpPr>
          <p:cNvPr id="73" name="Text 70"/>
          <p:cNvSpPr/>
          <p:nvPr/>
        </p:nvSpPr>
        <p:spPr>
          <a:xfrm>
            <a:off x="54864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analysis of SpaceX launch outcomes — from data collection through predictive modeling</a:t>
            </a:r>
            <a:endParaRPr lang="en-US" sz="1500" dirty="0"/>
          </a:p>
        </p:txBody>
      </p:sp>
      <p:sp>
        <p:nvSpPr>
          <p:cNvPr id="74" name="Text 71"/>
          <p:cNvSpPr/>
          <p:nvPr/>
        </p:nvSpPr>
        <p:spPr>
          <a:xfrm>
            <a:off x="548640" y="5029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 A. Diakite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11, 2026</a:t>
            </a:r>
          </a:p>
          <a:p>
            <a:pPr>
              <a:lnSpc>
                <a:spcPct val="135000"/>
              </a:lnSpc>
            </a:pP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https://github.com/ptah222/IBM-Data-Science-Capstone-Project.git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 predict whether the Falcon 9 first stage will land successfully so that a competing company can make more informed launch bids. 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used: data collection (API + web scraping), data wrangling, exploratory data analysis, interactive visual analytics and predictive classification modeling.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comparing multiple models, we find that the Falcon 9 booster has a high probability of successful landing (87.7% based on decision tree classifier). Success is highly correlated with launch site, orbits, boosters and payload mass.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has reached 90% in recent years, thanks to new generation of boosters.</a:t>
            </a:r>
          </a:p>
        </p:txBody>
      </p:sp>
      <p:sp>
        <p:nvSpPr>
          <p:cNvPr id="7" name="Shape 4"/>
          <p:cNvSpPr/>
          <p:nvPr/>
        </p:nvSpPr>
        <p:spPr>
          <a:xfrm>
            <a:off x="6492240" y="14173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20840" y="152704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686800" y="152704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92240" y="28346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20840" y="294436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686800" y="294436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records analyzed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launches (2010–2020)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42519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0840" y="436168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686800" y="436168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landing success rate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of 90 landings succeeded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~$62M, far below competitors' ~$165M+, largely because SpaceX reuses the first stage instead of discarding it.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is only possible when the first stage successfully lands, so landing success directly determines launch cost.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competing company bidding against SpaceX would benefit from estimating this cost — which requires predicting landing success.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1463040"/>
            <a:ext cx="4937760" cy="4206240"/>
          </a:xfrm>
          <a:prstGeom prst="roundRect">
            <a:avLst>
              <a:gd name="adj" fmla="val 173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494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49440" y="21031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whether the Falcon 9 first stage will land successfully, using publicly available launch data — payload mass, orbit type, launch site, booster version, and more?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4944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Explored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0" y="39319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most influence landing outcome?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success rate changed over time?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model predicts outcome best?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 REST API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6656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to api.spacexdata.com/v4/launches/past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05456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25496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35224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53512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response into a pandas DataFrame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82312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02352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30368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rocket, payload, launchpad, core IDs to make follow-up GET requests for details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059168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79208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88936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07224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nested results into flat columns per launch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336024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656064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65792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84080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Falcon 9 launches only (drop Falcon 1)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3200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requests.get(url).json() against the SpaceX v4 API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returned per launch (rocket, payloads, launchpad, cores) require separate GET calls to resolve into readable fields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functions (e.g. getBoosterVersion(), getLaunchSite()) map IDs → names and append to lists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a single DataFrame; export to spacex_api.csv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Code: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API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ECE2D05-3089-823C-6853-67AB22738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862071"/>
            <a:ext cx="4937760" cy="2852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 (Wikipedia)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6656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Wikipedia “List of Falcon 9 and Falcon Heavy launches” page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05456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25496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35224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53512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HTML with BeautifulSoup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82312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02352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30368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launch-record HTML table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059168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79208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88936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07224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each column (date, booster, site, payload, outcome)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336024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656064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65792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84080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rows into a DataFrame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3200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 the Wikipedia revision URL, then BeautifulSoup(html, 'html.parser')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soup.find_all('table', 'wikitable plainrowheaders collapsible') to locate the launch table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parsing functions per column (date/time, booster version, payload mass, orbit, outcome)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parsed cells into a dict of lists → pd.DataFrame; export to spacex_web_scraped.csv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Code: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WEB SCRAPING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E7E8386-6B15-28A1-C74A-F018F9B50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821604"/>
            <a:ext cx="4937760" cy="2860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 Methodology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6656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API + scraped datasets; resolve column mismatches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05456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25496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35224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53512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(e.g. impute mean payload mass)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82312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02352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30368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categorical labels (site, orbit, outcome text)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059168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79208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88936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07224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binary Class label (1 = success, 0 = failure) from landing outcome text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336024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656064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65792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84080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clean, model-ready dataset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2880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“Successful Landing”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3200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strings like 'True ASDS', 'True RTLS', 'True Ocean' → Class = 1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'False ASDS', 'False RTLS', 'None None' → Class = 0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binary label becomes the target variable for the classification models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Code: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7C5BE79-EA88-562B-1E6C-35FF46631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807208"/>
            <a:ext cx="3895503" cy="2889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with Data Visualization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Used &amp; Purpose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8288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Flight Number vs. Launch Site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0" y="18288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whether success improved over successive flights, per site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50592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4505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Payload Mass vs. Launch Site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0" y="2450592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heavier payloads cluster at certain sites or fail more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72384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307238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Success Rate by Orbit Type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0" y="3072384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landing reliability across orbit classes (LEO, GTO, ISS, …)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694176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36941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Flight Number / Payload vs. Orbit Type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0" y="3694176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interaction effects between orbit, payload, and experience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315968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43159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Yearly Launch Success Trend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0" y="431596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success rate evolved as SpaceX iterated on booster design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Code: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VISUALIZATION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Card 7"/>
          <p:cNvSpPr/>
          <p:nvPr/>
        </p:nvSpPr>
        <p:spPr>
          <a:xfrm>
            <a:off x="548640" y="5030000"/>
            <a:ext cx="11064240" cy="78000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7a"/>
          <p:cNvSpPr/>
          <p:nvPr/>
        </p:nvSpPr>
        <p:spPr>
          <a:xfrm>
            <a:off x="822960" y="5180000"/>
            <a:ext cx="105156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chart tests one hypothesis about landing success — experience, mass, orbit energy, or time — and every one of them fed a feature into the final classifier.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with SQL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wrangled dataset into a SQLite / Db2 table via %sql / ibm_db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covered: distinct launch sites, payload totals by customer, average payload by booster, first successful landing date, boosters meeting payload + outcome criteria, mission-outcome counts, max-payload boosters, month-level 2015 records, and a ranked landing-outcome count (2010–2020)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answers one specific analytical question used later in the results section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Categories Covered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800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377440" y="48006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377440" y="4800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0" y="48006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06240" y="4800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48006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35040" y="4800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63840" y="48006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63840" y="4800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Code: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SQL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7042E9-9A30-16DD-C048-61BF76FCA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00" y="1560000"/>
            <a:ext cx="5223360" cy="22213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Visual Analytics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019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23774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for every launch site, colored by success/failure ratio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markers for each individual launch record, clustered by site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lines from a launch site to nearby coastline, highway, and city, to explore siting rationale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37960" y="178308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9019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App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37960" y="23774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filter by launch site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success-rate share across sites (or per-site success vs. failure)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 + scatter chart of payload mass vs. success, colored by booster version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App Code: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 9a"/>
          <p:cNvSpPr/>
          <p:nvPr/>
        </p:nvSpPr>
        <p:spPr>
          <a:xfrm>
            <a:off x="777240" y="3900000"/>
            <a:ext cx="49377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makes the siting logic visible: every pad is coastal, so a failed first stage falls over open water rather than populated land.</a:t>
            </a:r>
            <a:endParaRPr lang="en-US" sz="1200" dirty="0"/>
          </a:p>
        </p:txBody>
      </p:sp>
      <p:sp>
        <p:nvSpPr>
          <p:cNvPr id="22" name="Text 9b"/>
          <p:cNvSpPr/>
          <p:nvPr/>
        </p:nvSpPr>
        <p:spPr>
          <a:xfrm>
            <a:off x="6537960" y="3900000"/>
            <a:ext cx="49377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lets a non-technical bidder test payload and site combinations directly, without rerunning any of the notebooks.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Number &amp; Payload vs. Launch Outcome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one Falcon 9 launch; orange = successful landing (Class 1), blue = failure (Class 0)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6400800" cy="3977640"/>
          </a:xfrm>
          <a:prstGeom prst="roundRect">
            <a:avLst>
              <a:gd name="adj" fmla="val 137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media/real_chart_flightnum_payloa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783080"/>
            <a:ext cx="6126480" cy="3703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 vs. Payload Mass, colored by outcome (Class)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 by Orbit Type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a 100% landing success rate; GTO is lowest at 51.9%, reflecting its higher energy requirements.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45920"/>
          <a:ext cx="11064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Launch Success Trend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climbed from 0% before 2014 to 90% in 2019 as SpaceX iterated on Block 5 boosters and landing technique.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45920"/>
          <a:ext cx="11064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SQL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Sites &amp; Payload Totals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186964"/>
              </p:ext>
            </p:extLst>
          </p:nvPr>
        </p:nvGraphicFramePr>
        <p:xfrm>
          <a:off x="548640" y="1554480"/>
          <a:ext cx="11064240" cy="1371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launch site names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SLC 40, KSC LC 39A, VAFB SLC 4E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payload mass by launch site (KSC LC 39A)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7,606.5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directly from the 90-launch wrangled dataset (dataset_part_2.csv).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SQL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5" name="Card 13"/>
          <p:cNvSpPr/>
          <p:nvPr/>
        </p:nvSpPr>
        <p:spPr>
          <a:xfrm>
            <a:off x="548640" y="3200400"/>
            <a:ext cx="11064240" cy="220000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a"/>
          <p:cNvSpPr/>
          <p:nvPr/>
        </p:nvSpPr>
        <p:spPr>
          <a:xfrm>
            <a:off x="822960" y="3475000"/>
            <a:ext cx="10515600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queries establish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pads appear across all 90 launches — CCAFS SLC 40, KSC LC 39A and VAFB SLC 4E — so launch site is a low-cardinality categorical feature and one-hot encodes cleanly for the classifier.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 averages 7,606.5 kg per launch, the heaviest of the three sites, because it handles the high-energy GTO and heavy-lift missions.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pairing matters later: site and payload mass are correlated, so their apparent effects on landing success cannot be read independently of each other.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SQL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Rates &amp; Rankings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28600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successful ground-pad landing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2015-12-22 (booster B1019)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Boosters: success (drone ship, ASDS) &amp; payload 4,000–6,000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B1021, B1022, B1026, B1031, B1046, B1059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successful vs. failed mission 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Success: 60  |  Failure: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Boosters carrying the maximum payload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B1048, B1051 (15,600 kg each)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directly from the 90-launch wrangled dataset (dataset_part_2.csv).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SQL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SQL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Analysis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3716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names for 2015 records with landing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January, April, June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landing outcome counts across all 90 launches (2010–2020)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1) True ASDS — 41  2) No attempt — 19  3) True RTLS — 14  4) False ASDS —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directly from the 90-launch wrangled dataset (dataset_part_2.csv).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SQL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Card 15"/>
          <p:cNvSpPr/>
          <p:nvPr/>
        </p:nvSpPr>
        <p:spPr>
          <a:xfrm>
            <a:off x="548640" y="3200400"/>
            <a:ext cx="11064240" cy="220000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a"/>
          <p:cNvSpPr/>
          <p:nvPr/>
        </p:nvSpPr>
        <p:spPr>
          <a:xfrm>
            <a:off x="822960" y="3475000"/>
            <a:ext cx="10515600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time analysis shows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2015 failures cluster in the first half of the year (January, April, June), the period when drone-ship recovery was still being proven.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ASDS is the single most common outcome at 41 of 90 launches, confirming drone-ship recovery — not ground-pad return — as the dominant landing mode.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 no-attempt records are early or high-energy missions with no recovery planned; they are labelled Class 0 and are part of why the pre-2014 success rate is 0%.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Folium Map — Launch Site Markers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0203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28232" y="164592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markers — folium.Circle + folium.Marker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28232" y="1938528"/>
            <a:ext cx="5020056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nasa_coordinate = [29.5597, -95.0831]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site_map = folium.Map(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location=nasa_coordinate, zoom_start=5)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_, row in launch_sites.iterrows():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 = [row['Latitude'], row['Longitude']]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folium.Circle(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coord, radius=1000, color='#000000',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fill=True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).add_child(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folium.Popup(row['LaunchSite'])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).add_to(site_map)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folium.Marker(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coord, popup=row['LaunchSite']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).add_to(site_map)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Notebook: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— FOLIUM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8D61E4-A4FE-2052-9CD7-B24E4DD3E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1569089"/>
            <a:ext cx="5742432" cy="34627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Folium Map — Launch Records &amp; Proximities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330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90 launch records, color-coded by outcome and clustered by site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0203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28232" y="164592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clusters &amp; proximity analysis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Notebook: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— FOLIUM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608887-922B-1278-8242-641A02F3FF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000" b="1500"/>
          <a:stretch>
            <a:fillRect/>
          </a:stretch>
        </p:blipFill>
        <p:spPr>
          <a:xfrm>
            <a:off x="548640" y="2000000"/>
            <a:ext cx="5641715" cy="2192470"/>
          </a:xfrm>
          <a:prstGeom prst="rect">
            <a:avLst/>
          </a:prstGeom>
        </p:spPr>
      </p:pic>
      <p:sp>
        <p:nvSpPr>
          <p:cNvPr id="21" name="Text 17a"/>
          <p:cNvSpPr/>
          <p:nvPr/>
        </p:nvSpPr>
        <p:spPr>
          <a:xfrm>
            <a:off x="6428232" y="1938528"/>
            <a:ext cx="5020056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launch record is added to a MarkerCluster, with marker_color set from the Class label — green for a successful landing, red for a failure.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expand on zoom, so overlapping launches at CCAFS SLC-40, KSC LC-39A and VAFB SLC-4E stay readable.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folium.PolyLine plus a Haversine distance calculation measure each site to its nearest coastline, railway, highway and city.</a:t>
            </a:r>
            <a:endParaRPr lang="en-US" sz="1200" dirty="0"/>
          </a:p>
        </p:txBody>
      </p:sp>
      <p:sp>
        <p:nvSpPr>
          <p:cNvPr id="22" name="Text 17b"/>
          <p:cNvSpPr/>
          <p:nvPr/>
        </p:nvSpPr>
        <p:spPr>
          <a:xfrm>
            <a:off x="6428232" y="3800000"/>
            <a:ext cx="5020056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map shows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sites sit within roughly 1 km of the coast — failed stages fall over water — while cities are kept much further away.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 and KSC LC-39A carry the bulk of launches and show visibly denser green clusters than VAFB SLC-4E.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 Dash — Interactive Dashboard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App Code: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— DASH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3F0D96-633F-ACEE-8C78-1AA51B7A7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640" y="1292565"/>
            <a:ext cx="9141844" cy="42728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Analysis Methodology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05080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6656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numeric features (StandardScaler)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05456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25496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35224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53512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of the labeled dataset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82312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02352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05080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30368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hyperparameters with cross-validation, per model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059168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79208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3A6EA5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88936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07224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Regression, SVM, Decision Tree, and KNN classifiers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336024" y="2002536"/>
            <a:ext cx="320040" cy="201168"/>
          </a:xfrm>
          <a:prstGeom prst="rightArrow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656064" y="150876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05080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65792" y="1581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84080" y="1819656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test-set accuracy; select the best model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30175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Class (1 = successful landing, 0 = failure), engineered during data wrangling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flight number, payload mass, orbit type, launch site, booster version/grid fins/legs, and reused-booster flag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tuned via GridSearchCV; best estimator per model type evaluated on the held-out test set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5080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1" descr="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6025896"/>
            <a:ext cx="310896" cy="31089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15568" y="58978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Notebook: 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github.com/ptah222/IBM-Data-Science-Capstone-Project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9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Best-Model Results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45920"/>
          <a:ext cx="5349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Card 20"/>
          <p:cNvSpPr/>
          <p:nvPr/>
        </p:nvSpPr>
        <p:spPr>
          <a:xfrm>
            <a:off x="6309360" y="2200000"/>
            <a:ext cx="5349240" cy="245000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92240" y="24500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Decision Tree — 87.7% Accuracy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92240" y="28800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gini, depth=8, min_leaf=2, min_split=10, best splitter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scored best in cross-validation (87.7%), ahead of SVM/KNN (84.8%) and Logistic Regression (84.6%), and was selected as the final model.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RESULTS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4" name="Text 20a"/>
          <p:cNvSpPr/>
          <p:nvPr/>
        </p:nvSpPr>
        <p:spPr>
          <a:xfrm>
            <a:off x="6492240" y="3350000"/>
            <a:ext cx="498348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with GridSearchCV over a 5-fold cross-validation split.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exceed 84%, so the signal is in the features, not the algorithm.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the model finds nearly every successful landing; its errors are false positives — failures predicted as successes.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19407">
            <a:off x="1564726" y="513167"/>
            <a:ext cx="56873" cy="56873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530611">
            <a:off x="6325017" y="298267"/>
            <a:ext cx="49066" cy="49066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3007370">
            <a:off x="7582703" y="15492"/>
            <a:ext cx="56628" cy="56628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3403019">
            <a:off x="1311517" y="418376"/>
            <a:ext cx="57687" cy="5768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1730889">
            <a:off x="11480931" y="533252"/>
            <a:ext cx="33758" cy="3375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3604315">
            <a:off x="10132831" y="280534"/>
            <a:ext cx="20542" cy="2054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56630">
            <a:off x="4078009" y="169914"/>
            <a:ext cx="52046" cy="52046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761167">
            <a:off x="7803511" y="264047"/>
            <a:ext cx="43745" cy="43745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2151259">
            <a:off x="124384" y="56626"/>
            <a:ext cx="26260" cy="26260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2980241">
            <a:off x="10880179" y="362143"/>
            <a:ext cx="43758" cy="43758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rot="2301444">
            <a:off x="8500425" y="85012"/>
            <a:ext cx="37115" cy="3711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rot="3328204">
            <a:off x="2956726" y="486767"/>
            <a:ext cx="31872" cy="3187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2393852">
            <a:off x="10542304" y="492141"/>
            <a:ext cx="36635" cy="3663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2391722">
            <a:off x="8787835" y="632375"/>
            <a:ext cx="63400" cy="6340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3175148">
            <a:off x="10545472" y="1587439"/>
            <a:ext cx="41188" cy="41188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3477463">
            <a:off x="9373139" y="662620"/>
            <a:ext cx="34486" cy="34486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rot="1392000">
            <a:off x="8892710" y="909306"/>
            <a:ext cx="34969" cy="34969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rot="2052093">
            <a:off x="8803453" y="949123"/>
            <a:ext cx="58018" cy="58018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rot="2271074">
            <a:off x="9589155" y="948017"/>
            <a:ext cx="41121" cy="4112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rot="3982278">
            <a:off x="11576699" y="1640896"/>
            <a:ext cx="47073" cy="47073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rot="319037">
            <a:off x="8346088" y="795947"/>
            <a:ext cx="40453" cy="40453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rot="3454685">
            <a:off x="8383225" y="1383275"/>
            <a:ext cx="60351" cy="6035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1882556">
            <a:off x="2200756" y="5705634"/>
            <a:ext cx="57800" cy="5780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2655981">
            <a:off x="4521453" y="6324788"/>
            <a:ext cx="38022" cy="38022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rot="3068296">
            <a:off x="6876643" y="6003790"/>
            <a:ext cx="50264" cy="50264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rot="4092833">
            <a:off x="3433879" y="6728072"/>
            <a:ext cx="25241" cy="25241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rot="782926">
            <a:off x="1455499" y="6317468"/>
            <a:ext cx="54535" cy="5453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rot="1471907">
            <a:off x="10461559" y="5893811"/>
            <a:ext cx="60392" cy="6039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rot="2333111">
            <a:off x="2945490" y="5918535"/>
            <a:ext cx="44647" cy="44647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3699870">
            <a:off x="5134487" y="5887873"/>
            <a:ext cx="48082" cy="4808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rot="3345519">
            <a:off x="810585" y="6314058"/>
            <a:ext cx="48824" cy="48824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rot="1283389">
            <a:off x="1751563" y="6134523"/>
            <a:ext cx="28387" cy="28387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rot="3126815">
            <a:off x="4382697" y="6521903"/>
            <a:ext cx="22473" cy="22473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rot="409130">
            <a:off x="3323084" y="6007229"/>
            <a:ext cx="19370" cy="1937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rot="1303667">
            <a:off x="868073" y="6118737"/>
            <a:ext cx="25991" cy="25991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rot="3743759">
            <a:off x="216104" y="5590658"/>
            <a:ext cx="27239" cy="2723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rot="1662741">
            <a:off x="6823336" y="6459226"/>
            <a:ext cx="21560" cy="21560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rot="2753944">
            <a:off x="1310994" y="5985475"/>
            <a:ext cx="41269" cy="4126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rot="1590704">
            <a:off x="5842377" y="5951637"/>
            <a:ext cx="20468" cy="20468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rot="3146352">
            <a:off x="135620" y="6412747"/>
            <a:ext cx="59204" cy="59204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rot="1674222">
            <a:off x="4096301" y="5849038"/>
            <a:ext cx="32312" cy="3231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rot="1347648">
            <a:off x="10085795" y="6347542"/>
            <a:ext cx="51692" cy="51692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rot="899963">
            <a:off x="8659302" y="5982094"/>
            <a:ext cx="44673" cy="44673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rot="2744500">
            <a:off x="10239968" y="5823726"/>
            <a:ext cx="48648" cy="4864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rot="3374593">
            <a:off x="1770639" y="5521072"/>
            <a:ext cx="33280" cy="33280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rot="3923574">
            <a:off x="9026966" y="6653165"/>
            <a:ext cx="27495" cy="2749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 rot="2004778">
            <a:off x="8566276" y="6023839"/>
            <a:ext cx="48369" cy="48369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rot="3711537">
            <a:off x="6296273" y="6329727"/>
            <a:ext cx="60482" cy="60482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 rot="3937185">
            <a:off x="2254586" y="5797062"/>
            <a:ext cx="57202" cy="57202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rot="4135056">
            <a:off x="91197" y="6563678"/>
            <a:ext cx="35284" cy="35284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rot="2718481">
            <a:off x="295281" y="6144607"/>
            <a:ext cx="45668" cy="4566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 rot="1300796">
            <a:off x="1549832" y="6271284"/>
            <a:ext cx="46163" cy="46163"/>
          </a:xfrm>
          <a:prstGeom prst="star5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 rot="855333">
            <a:off x="10214099" y="6185941"/>
            <a:ext cx="58923" cy="58923"/>
          </a:xfrm>
          <a:prstGeom prst="star5">
            <a:avLst/>
          </a:prstGeom>
          <a:solidFill>
            <a:srgbClr val="9B7F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 rot="755426">
            <a:off x="9167028" y="6451612"/>
            <a:ext cx="38369" cy="3836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 rot="694407">
            <a:off x="7928678" y="6818530"/>
            <a:ext cx="43908" cy="43908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806501"/>
            <a:ext cx="307238" cy="307238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1371600" y="685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0" name="Text 57"/>
          <p:cNvSpPr/>
          <p:nvPr/>
        </p:nvSpPr>
        <p:spPr>
          <a:xfrm>
            <a:off x="548640" y="1737360"/>
            <a:ext cx="10972800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 Classifier was the best performing model, at 87.7% cross-validated accuracy — ahead of SVM and KNN (84.8%) and Logistic Regression (84.6%).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predictors of a successful landing are flight number (accumulated experience), orbit type, launch site and payload mass.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is strongly time-dependent: 0% before 2014, rising to 90% by 2019 as SpaceX iterated toward the Block 5 booster.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type matters sharply — ES-L1, GEO, HEO and SSO reached 100% success, while high-energy GTO missions managed only 51.9%.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had the highest per-site success rate; heavier payloads above ~7,000 kg showed noticeably fewer successful landings.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 can therefore estimate whether SpaceX will recover a first stage — and so whether a bid is priced against a ~$62M reusable launch or a full-cost expendable one.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Links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" name="Image 1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91056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508760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API notebook: https://github.com/ptah222/IBM-Data-Science-Capstone-Project/blob/0584d6d27082113542dc9254eb112fbda10bb4f8/part%201%20jupyter-labs-spacex-data-collection-api.ipynb 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093976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2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76272"/>
            <a:ext cx="310896" cy="31089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1" name="Text 6"/>
          <p:cNvSpPr/>
          <p:nvPr/>
        </p:nvSpPr>
        <p:spPr>
          <a:xfrm>
            <a:off x="1115568" y="2093976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Web Scraping notebook:  https://github.com/ptah222/IBM-Data-Science-Capstone-Project/blob/bb0d5b67337cbdf7ec640d6aaa9d6e046e613737/part%201%20jupyter-labs-webscraping.ipynb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679192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61488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2679192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notebook:  https://github.com/ptah222/IBM-Data-Science-Capstone-Project/blob/03cf6dd686448d61155a02de20f39b63c7e72e58/labs-jupyter-spacex-Data%20wrangling.ipynb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3264408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6" name="Image 4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346704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3264408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Data Visualization notebook: https://github.com/ptah222/IBM-Data-Science-Capstone-Project/blob/f95268ea8e1c61bacbb2be381b085205bc301cb0/edadataviz.ipynb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3849624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9" name="Image 5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31920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15568" y="3849624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SQL notebook: https://github.com/ptah222/IBM-Data-Science-Capstone-Project/blob/f95268ea8e1c61bacbb2be381b085205bc301cb0/part%202%20jupyter-labs-eda-sql-coursera_sqllite.ipynb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548640" y="4434840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6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517136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15568" y="4434840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— Folium notebook: https://github.com/ptah222/IBM-Data-Science-Capstone-Project/blob/c4cfb8f28e87c02f9103472e11f476a3fd3c9572/lab_jupyter_launch_site_location_folium.ipynb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548640" y="5020056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7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102352"/>
            <a:ext cx="310896" cy="31089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115568" y="5020056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— Plotly Dash app: https://github.com/ptah222/IBM-Data-Science-Capstone-Project/blob/0a065d79f08a9dac8a9bd57f4a0756986d7ecb52/spacex-dash-app.py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548640" y="5605272"/>
            <a:ext cx="11064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8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687568"/>
            <a:ext cx="310896" cy="31089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115568" y="5605272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Modeling notebook: https://github.com/ptah222/IBM-Data-Science-Capstone-Project/blob/2f4e7255690fa8ce7c7aa9f9847a3803ac14a9fd/SpaceX_Machine%20Learning%20Prediction_Part_5.ipynb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206</TotalTime>
  <Words>2746</Words>
  <Application>Microsoft Office PowerPoint</Application>
  <PresentationFormat>Widescreen</PresentationFormat>
  <Paragraphs>323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</vt:lpstr>
      <vt:lpstr>Century Gothic</vt:lpstr>
      <vt:lpstr>Courier New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Diakite, Abdou - S01331049</cp:lastModifiedBy>
  <cp:revision>55</cp:revision>
  <dcterms:created xsi:type="dcterms:W3CDTF">2026-08-11T17:49:47Z</dcterms:created>
  <dcterms:modified xsi:type="dcterms:W3CDTF">2026-08-13T18:00:52Z</dcterms:modified>
</cp:coreProperties>
</file>